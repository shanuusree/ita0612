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91776-6522-4CE9-A10D-F1B85EF0FB9C}" v="7" dt="2026-07-23T15:02:02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0" autoAdjust="0"/>
    <p:restoredTop sz="94660"/>
  </p:normalViewPr>
  <p:slideViewPr>
    <p:cSldViewPr snapToGrid="0">
      <p:cViewPr>
        <p:scale>
          <a:sx n="75" d="100"/>
          <a:sy n="75" d="100"/>
        </p:scale>
        <p:origin x="76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uusree m" userId="f24d988a6cbd325e" providerId="LiveId" clId="{7AF2B256-59EB-4998-9E96-67AD3A444CBF}"/>
    <pc:docChg chg="custSel modSld sldOrd">
      <pc:chgData name="shanuusree m" userId="f24d988a6cbd325e" providerId="LiveId" clId="{7AF2B256-59EB-4998-9E96-67AD3A444CBF}" dt="2026-07-23T15:04:49.858" v="197" actId="1076"/>
      <pc:docMkLst>
        <pc:docMk/>
      </pc:docMkLst>
      <pc:sldChg chg="addSp modSp mod">
        <pc:chgData name="shanuusree m" userId="f24d988a6cbd325e" providerId="LiveId" clId="{7AF2B256-59EB-4998-9E96-67AD3A444CBF}" dt="2026-07-23T15:03:57.048" v="196" actId="1076"/>
        <pc:sldMkLst>
          <pc:docMk/>
          <pc:sldMk cId="2194726556" sldId="256"/>
        </pc:sldMkLst>
        <pc:spChg chg="mod">
          <ac:chgData name="shanuusree m" userId="f24d988a6cbd325e" providerId="LiveId" clId="{7AF2B256-59EB-4998-9E96-67AD3A444CBF}" dt="2026-07-23T15:02:10.205" v="46" actId="255"/>
          <ac:spMkLst>
            <pc:docMk/>
            <pc:sldMk cId="2194726556" sldId="256"/>
            <ac:spMk id="2" creationId="{18E1633D-80EC-5CE4-7C7B-D7153C154799}"/>
          </ac:spMkLst>
        </pc:spChg>
        <pc:spChg chg="mod">
          <ac:chgData name="shanuusree m" userId="f24d988a6cbd325e" providerId="LiveId" clId="{7AF2B256-59EB-4998-9E96-67AD3A444CBF}" dt="2026-07-23T15:03:07.558" v="123" actId="20577"/>
          <ac:spMkLst>
            <pc:docMk/>
            <pc:sldMk cId="2194726556" sldId="256"/>
            <ac:spMk id="3" creationId="{1DE7810A-46FF-2ED2-EC09-6C6BEB8BCF90}"/>
          </ac:spMkLst>
        </pc:spChg>
        <pc:spChg chg="add mod">
          <ac:chgData name="shanuusree m" userId="f24d988a6cbd325e" providerId="LiveId" clId="{7AF2B256-59EB-4998-9E96-67AD3A444CBF}" dt="2026-07-23T15:03:57.048" v="196" actId="1076"/>
          <ac:spMkLst>
            <pc:docMk/>
            <pc:sldMk cId="2194726556" sldId="256"/>
            <ac:spMk id="5" creationId="{D11504D5-FA0F-796F-B51E-798B6350847D}"/>
          </ac:spMkLst>
        </pc:spChg>
      </pc:sldChg>
      <pc:sldChg chg="modSp mod">
        <pc:chgData name="shanuusree m" userId="f24d988a6cbd325e" providerId="LiveId" clId="{7AF2B256-59EB-4998-9E96-67AD3A444CBF}" dt="2026-07-23T15:04:49.858" v="197" actId="1076"/>
        <pc:sldMkLst>
          <pc:docMk/>
          <pc:sldMk cId="2137455565" sldId="258"/>
        </pc:sldMkLst>
        <pc:spChg chg="mod">
          <ac:chgData name="shanuusree m" userId="f24d988a6cbd325e" providerId="LiveId" clId="{7AF2B256-59EB-4998-9E96-67AD3A444CBF}" dt="2026-07-23T15:04:49.858" v="197" actId="1076"/>
          <ac:spMkLst>
            <pc:docMk/>
            <pc:sldMk cId="2137455565" sldId="258"/>
            <ac:spMk id="5" creationId="{5F149F7F-10AA-F603-AE40-873714F5BFA3}"/>
          </ac:spMkLst>
        </pc:spChg>
      </pc:sldChg>
      <pc:sldChg chg="addSp modSp mod ord modTransition">
        <pc:chgData name="shanuusree m" userId="f24d988a6cbd325e" providerId="LiveId" clId="{7AF2B256-59EB-4998-9E96-67AD3A444CBF}" dt="2026-07-23T15:00:42.673" v="37"/>
        <pc:sldMkLst>
          <pc:docMk/>
          <pc:sldMk cId="1944451312" sldId="260"/>
        </pc:sldMkLst>
        <pc:spChg chg="add mod">
          <ac:chgData name="shanuusree m" userId="f24d988a6cbd325e" providerId="LiveId" clId="{7AF2B256-59EB-4998-9E96-67AD3A444CBF}" dt="2026-07-23T15:00:28.241" v="34" actId="1076"/>
          <ac:spMkLst>
            <pc:docMk/>
            <pc:sldMk cId="1944451312" sldId="260"/>
            <ac:spMk id="3" creationId="{1C833C84-D7B9-451A-E05D-03EDC746ED1B}"/>
          </ac:spMkLst>
        </pc:spChg>
      </pc:sldChg>
      <pc:sldChg chg="modSp">
        <pc:chgData name="shanuusree m" userId="f24d988a6cbd325e" providerId="LiveId" clId="{7AF2B256-59EB-4998-9E96-67AD3A444CBF}" dt="2026-07-23T14:59:58.195" v="3"/>
        <pc:sldMkLst>
          <pc:docMk/>
          <pc:sldMk cId="3683461332" sldId="263"/>
        </pc:sldMkLst>
        <pc:spChg chg="mod">
          <ac:chgData name="shanuusree m" userId="f24d988a6cbd325e" providerId="LiveId" clId="{7AF2B256-59EB-4998-9E96-67AD3A444CBF}" dt="2026-07-23T14:59:58.195" v="3"/>
          <ac:spMkLst>
            <pc:docMk/>
            <pc:sldMk cId="3683461332" sldId="263"/>
            <ac:spMk id="3" creationId="{02AE4811-E38B-0E8D-173F-0D18B055607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7/23/2026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633D-80EC-5CE4-7C7B-D7153C154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6000" dirty="0"/>
              <a:t>Learning Problems and Perspectives , Concept Learning and Hypothesis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7810A-46FF-2ED2-EC09-6C6BEB8BC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TECHNICAL PRESENTATION - CO2 – AT3</a:t>
            </a:r>
          </a:p>
          <a:p>
            <a:r>
              <a:rPr lang="en-IN" dirty="0"/>
              <a:t>ITA0612 –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504D5-FA0F-796F-B51E-798B6350847D}"/>
              </a:ext>
            </a:extLst>
          </p:cNvPr>
          <p:cNvSpPr txBox="1"/>
          <p:nvPr/>
        </p:nvSpPr>
        <p:spPr>
          <a:xfrm>
            <a:off x="8534400" y="5458968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DONE BY </a:t>
            </a:r>
          </a:p>
          <a:p>
            <a:r>
              <a:rPr lang="en-IN" sz="2200" dirty="0"/>
              <a:t>                SHANUUSREE M </a:t>
            </a:r>
          </a:p>
          <a:p>
            <a:r>
              <a:rPr lang="en-IN" sz="2200" dirty="0"/>
              <a:t>                192412319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726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740D-7B89-7801-6AC9-F2B09F5C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68" y="321198"/>
            <a:ext cx="10058400" cy="1609344"/>
          </a:xfrm>
        </p:spPr>
        <p:txBody>
          <a:bodyPr/>
          <a:lstStyle/>
          <a:p>
            <a:r>
              <a:rPr lang="en-IN" dirty="0"/>
              <a:t>TYPES OF LEARNING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3EFA1-5901-8839-4257-FAD5B038B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343" y="2048256"/>
            <a:ext cx="3622646" cy="640080"/>
          </a:xfrm>
        </p:spPr>
        <p:txBody>
          <a:bodyPr/>
          <a:lstStyle/>
          <a:p>
            <a:r>
              <a:rPr lang="en-IN" dirty="0"/>
              <a:t>Supervised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40F80-C135-8A84-F943-20FBC2E52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343" y="2731168"/>
            <a:ext cx="3619598" cy="32918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Uses </a:t>
            </a:r>
            <a:r>
              <a:rPr lang="en-IN" dirty="0" err="1"/>
              <a:t>labeled</a:t>
            </a:r>
            <a:r>
              <a:rPr lang="en-IN" dirty="0"/>
              <a:t> training data</a:t>
            </a:r>
          </a:p>
          <a:p>
            <a:r>
              <a:rPr lang="en-IN" dirty="0"/>
              <a:t> Learns input-output mapping </a:t>
            </a:r>
          </a:p>
          <a:p>
            <a:r>
              <a:rPr lang="en-IN" dirty="0"/>
              <a:t>Used for classification and regression</a:t>
            </a:r>
          </a:p>
          <a:p>
            <a:r>
              <a:rPr lang="en-IN" b="1" dirty="0"/>
              <a:t>Examples</a:t>
            </a:r>
            <a:endParaRPr lang="en-IN" dirty="0"/>
          </a:p>
          <a:p>
            <a:r>
              <a:rPr lang="en-IN" dirty="0"/>
              <a:t>Email spam detection </a:t>
            </a:r>
          </a:p>
          <a:p>
            <a:r>
              <a:rPr lang="en-IN" dirty="0"/>
              <a:t>House price prediction 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D4C8F-DD1F-5195-A8F9-B39420212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3177" y="2048256"/>
            <a:ext cx="3165669" cy="640080"/>
          </a:xfrm>
        </p:spPr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C0791-7859-72E3-4383-E3BFC8BBA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99672" y="2731168"/>
            <a:ext cx="3165669" cy="32918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Uses </a:t>
            </a:r>
            <a:r>
              <a:rPr lang="en-IN" dirty="0" err="1"/>
              <a:t>unlabeled</a:t>
            </a:r>
            <a:r>
              <a:rPr lang="en-IN" dirty="0"/>
              <a:t> data </a:t>
            </a:r>
          </a:p>
          <a:p>
            <a:r>
              <a:rPr lang="en-IN" dirty="0"/>
              <a:t>Finds hidden patterns or clusters </a:t>
            </a:r>
          </a:p>
          <a:p>
            <a:r>
              <a:rPr lang="en-IN" dirty="0"/>
              <a:t>Used for grouping and dimensionality reduction </a:t>
            </a:r>
          </a:p>
          <a:p>
            <a:r>
              <a:rPr lang="en-IN" b="1" dirty="0"/>
              <a:t>Examples</a:t>
            </a:r>
          </a:p>
          <a:p>
            <a:r>
              <a:rPr lang="en-IN" dirty="0"/>
              <a:t>Customer segmentation</a:t>
            </a:r>
          </a:p>
          <a:p>
            <a:r>
              <a:rPr lang="en-IN" dirty="0"/>
              <a:t> Market basket analysis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020F1-3FCE-44A2-7964-3569A8DB85A7}"/>
              </a:ext>
            </a:extLst>
          </p:cNvPr>
          <p:cNvSpPr txBox="1"/>
          <p:nvPr/>
        </p:nvSpPr>
        <p:spPr>
          <a:xfrm>
            <a:off x="8428120" y="2187732"/>
            <a:ext cx="3991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Reinforcement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8F15D-BEB9-B570-8DB0-B4488BCBC430}"/>
              </a:ext>
            </a:extLst>
          </p:cNvPr>
          <p:cNvSpPr txBox="1"/>
          <p:nvPr/>
        </p:nvSpPr>
        <p:spPr>
          <a:xfrm>
            <a:off x="8428120" y="2681598"/>
            <a:ext cx="33868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Learns through rewards and penalties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Agent interacts with environment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Goal is to maximize cumulative reward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Examples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Robotics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Game playing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Self-driving cars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49511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C944-DB27-33CB-5746-DF9E0BAE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6E9615-D26D-E574-0574-18A1C57FB48B}"/>
              </a:ext>
            </a:extLst>
          </p:cNvPr>
          <p:cNvSpPr txBox="1"/>
          <p:nvPr/>
        </p:nvSpPr>
        <p:spPr>
          <a:xfrm>
            <a:off x="601578" y="356755"/>
            <a:ext cx="100704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LEARNING PERSPECTIVES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49F7F-10AA-F603-AE40-873714F5BFA3}"/>
              </a:ext>
            </a:extLst>
          </p:cNvPr>
          <p:cNvSpPr txBox="1"/>
          <p:nvPr/>
        </p:nvSpPr>
        <p:spPr>
          <a:xfrm>
            <a:off x="380695" y="1300330"/>
            <a:ext cx="609399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Symbolic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Uses logical rules and knowledge representation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Human-readable decision 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Example: Expert Systems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Statistical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Uses mathematical models and probability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Learns patterns from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Example: Neural Networks, Decision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90309-2569-1FDF-4874-663785E024BB}"/>
              </a:ext>
            </a:extLst>
          </p:cNvPr>
          <p:cNvSpPr txBox="1"/>
          <p:nvPr/>
        </p:nvSpPr>
        <p:spPr>
          <a:xfrm>
            <a:off x="601578" y="3865408"/>
            <a:ext cx="76247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IMPACT OF LEARNING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CD6336-A32F-6069-859A-3A7B87A2FD8B}"/>
              </a:ext>
            </a:extLst>
          </p:cNvPr>
          <p:cNvSpPr txBox="1"/>
          <p:nvPr/>
        </p:nvSpPr>
        <p:spPr>
          <a:xfrm>
            <a:off x="304101" y="4856793"/>
            <a:ext cx="60946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data improves prediction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Avoiding overfitting increases generalization.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Efficient algorithms reduce training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Balanced models provide reliable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Proper learning approach improves overall system efficiency</a:t>
            </a:r>
          </a:p>
        </p:txBody>
      </p:sp>
    </p:spTree>
    <p:extLst>
      <p:ext uri="{BB962C8B-B14F-4D97-AF65-F5344CB8AC3E}">
        <p14:creationId xmlns:p14="http://schemas.microsoft.com/office/powerpoint/2010/main" val="2137455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2980CE-8039-6306-806C-13BE5EA7A6C9}"/>
              </a:ext>
            </a:extLst>
          </p:cNvPr>
          <p:cNvSpPr txBox="1"/>
          <p:nvPr/>
        </p:nvSpPr>
        <p:spPr>
          <a:xfrm>
            <a:off x="492854" y="1306645"/>
            <a:ext cx="60946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Noisy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Duplicate records </a:t>
            </a:r>
          </a:p>
          <a:p>
            <a:pPr>
              <a:buNone/>
            </a:pPr>
            <a:r>
              <a:rPr lang="en-IN" b="1" dirty="0"/>
              <a:t>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Model memorizes training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Poor performance on new data </a:t>
            </a:r>
          </a:p>
          <a:p>
            <a:pPr>
              <a:buNone/>
            </a:pPr>
            <a:r>
              <a:rPr lang="en-IN" b="1" dirty="0"/>
              <a:t>Computational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High processing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Large memory requirements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Difficult for very large 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1D766-757A-26A8-331C-681CDF6BD4D1}"/>
              </a:ext>
            </a:extLst>
          </p:cNvPr>
          <p:cNvSpPr txBox="1"/>
          <p:nvPr/>
        </p:nvSpPr>
        <p:spPr>
          <a:xfrm>
            <a:off x="293614" y="243010"/>
            <a:ext cx="10888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/>
              <a:t> </a:t>
            </a:r>
            <a:r>
              <a:rPr lang="en-IN" sz="5400" dirty="0">
                <a:latin typeface="+mj-lt"/>
              </a:rPr>
              <a:t>KEY CHALLENGES IN MACINE LEARNING</a:t>
            </a: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4C45F-F847-28EA-8CBE-066D3E8BEA85}"/>
              </a:ext>
            </a:extLst>
          </p:cNvPr>
          <p:cNvSpPr txBox="1"/>
          <p:nvPr/>
        </p:nvSpPr>
        <p:spPr>
          <a:xfrm>
            <a:off x="492854" y="462279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CONCLUSION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69C51-E329-4DE2-889E-76927AD20A91}"/>
              </a:ext>
            </a:extLst>
          </p:cNvPr>
          <p:cNvSpPr txBox="1"/>
          <p:nvPr/>
        </p:nvSpPr>
        <p:spPr>
          <a:xfrm>
            <a:off x="492854" y="5722958"/>
            <a:ext cx="9758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Machine learning performance depends on selecting the right learning method, maintaining high-quality data, and controlling model complexity.</a:t>
            </a:r>
          </a:p>
        </p:txBody>
      </p:sp>
    </p:spTree>
    <p:extLst>
      <p:ext uri="{BB962C8B-B14F-4D97-AF65-F5344CB8AC3E}">
        <p14:creationId xmlns:p14="http://schemas.microsoft.com/office/powerpoint/2010/main" val="166938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595C8-CE2B-CBA7-1D98-D6695773ACE3}"/>
              </a:ext>
            </a:extLst>
          </p:cNvPr>
          <p:cNvSpPr txBox="1"/>
          <p:nvPr/>
        </p:nvSpPr>
        <p:spPr>
          <a:xfrm>
            <a:off x="477520" y="4070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CONCEPT LEARNING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CE0BB-24AD-F936-6812-2809964DE12F}"/>
              </a:ext>
            </a:extLst>
          </p:cNvPr>
          <p:cNvSpPr txBox="1"/>
          <p:nvPr/>
        </p:nvSpPr>
        <p:spPr>
          <a:xfrm>
            <a:off x="843280" y="1330345"/>
            <a:ext cx="9753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 learning is the process of learning a target concept from training examples.</a:t>
            </a:r>
            <a:r>
              <a:rPr lang="en-IN" b="1" dirty="0"/>
              <a:t> </a:t>
            </a:r>
          </a:p>
          <a:p>
            <a:endParaRPr lang="en-IN" b="1" dirty="0"/>
          </a:p>
          <a:p>
            <a:r>
              <a:rPr lang="en-IN" b="1" dirty="0"/>
              <a:t>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automatic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Learns decision rules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prediction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 knowledge discovery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2601E-8D4C-0672-5F0C-0F78AFAC19F8}"/>
              </a:ext>
            </a:extLst>
          </p:cNvPr>
          <p:cNvSpPr txBox="1"/>
          <p:nvPr/>
        </p:nvSpPr>
        <p:spPr>
          <a:xfrm>
            <a:off x="477520" y="355661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>
                <a:latin typeface="+mj-lt"/>
              </a:rPr>
              <a:t>HYPOTHESIS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D2DB7-B1CE-4A50-A891-A58DEB109456}"/>
              </a:ext>
            </a:extLst>
          </p:cNvPr>
          <p:cNvSpPr txBox="1"/>
          <p:nvPr/>
        </p:nvSpPr>
        <p:spPr>
          <a:xfrm>
            <a:off x="843280" y="458015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hypothesis is a possible rule that classifies data</a:t>
            </a:r>
          </a:p>
          <a:p>
            <a:endParaRPr lang="en-IN" dirty="0"/>
          </a:p>
          <a:p>
            <a:r>
              <a:rPr lang="en-IN" dirty="0"/>
              <a:t>A hypothesis is </a:t>
            </a:r>
            <a:r>
              <a:rPr lang="en-IN" b="1" dirty="0"/>
              <a:t>evaluated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Coverage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Error rate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64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111F-B2F8-87E9-C3BF-ABA4966D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E4811-E38B-0E8D-173F-0D18B0556076}"/>
              </a:ext>
            </a:extLst>
          </p:cNvPr>
          <p:cNvSpPr txBox="1"/>
          <p:nvPr/>
        </p:nvSpPr>
        <p:spPr>
          <a:xfrm>
            <a:off x="264160" y="325735"/>
            <a:ext cx="9560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 GENERAL-TO-SPECIFIC ORDERING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26E75-CE58-71AE-1A4D-CDE9D8F090A3}"/>
              </a:ext>
            </a:extLst>
          </p:cNvPr>
          <p:cNvSpPr txBox="1"/>
          <p:nvPr/>
        </p:nvSpPr>
        <p:spPr>
          <a:xfrm>
            <a:off x="72136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General 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Covers many instances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Less restrictive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Specific Hypothesis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Covers fewer instances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More restrictive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Role of Training 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Positive examples expand valid hypotheses.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Negative examples eliminate incorrect hypotheses.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Training data gradually refines the hypothesis. </a:t>
            </a:r>
          </a:p>
        </p:txBody>
      </p:sp>
    </p:spTree>
    <p:extLst>
      <p:ext uri="{BB962C8B-B14F-4D97-AF65-F5344CB8AC3E}">
        <p14:creationId xmlns:p14="http://schemas.microsoft.com/office/powerpoint/2010/main" val="368346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494B-190D-BA43-E31E-C6A39F1D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FA4451-779B-36E1-ECD7-2990C3674AA6}"/>
              </a:ext>
            </a:extLst>
          </p:cNvPr>
          <p:cNvSpPr txBox="1"/>
          <p:nvPr/>
        </p:nvSpPr>
        <p:spPr>
          <a:xfrm>
            <a:off x="640080" y="4171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latin typeface="+mj-lt"/>
              </a:rPr>
              <a:t>APPLICATIONS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19D69-3EDE-E988-94BD-54B3AC97C0E2}"/>
              </a:ext>
            </a:extLst>
          </p:cNvPr>
          <p:cNvSpPr txBox="1"/>
          <p:nvPr/>
        </p:nvSpPr>
        <p:spPr>
          <a:xfrm>
            <a:off x="721360" y="161750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Email spam filtering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Medical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Face recognition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Fraud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45C13-18A9-0937-AAE1-19AA1E7E1263}"/>
              </a:ext>
            </a:extLst>
          </p:cNvPr>
          <p:cNvSpPr txBox="1"/>
          <p:nvPr/>
        </p:nvSpPr>
        <p:spPr>
          <a:xfrm>
            <a:off x="721360" y="309483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Knowledge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Learns useful rules from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Supports intelligent decision-making.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C1652-7956-A9F4-AD4F-99525A5B4138}"/>
              </a:ext>
            </a:extLst>
          </p:cNvPr>
          <p:cNvSpPr txBox="1"/>
          <p:nvPr/>
        </p:nvSpPr>
        <p:spPr>
          <a:xfrm>
            <a:off x="721360" y="429516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>
                <a:latin typeface="+mj-lt"/>
              </a:rPr>
              <a:t>CONCLUSION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10873-6BF8-DA70-8D1B-95BD6E20175F}"/>
              </a:ext>
            </a:extLst>
          </p:cNvPr>
          <p:cNvSpPr txBox="1"/>
          <p:nvPr/>
        </p:nvSpPr>
        <p:spPr>
          <a:xfrm>
            <a:off x="721360" y="5240496"/>
            <a:ext cx="899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 learning builds accurate classification models by refining hypotheses using training examples, making it a fundamental technique in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001404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833C84-D7B9-451A-E05D-03EDC746ED1B}"/>
              </a:ext>
            </a:extLst>
          </p:cNvPr>
          <p:cNvSpPr txBox="1"/>
          <p:nvPr/>
        </p:nvSpPr>
        <p:spPr>
          <a:xfrm>
            <a:off x="3596640" y="218501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latin typeface="+mj-lt"/>
              </a:rPr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94445131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{CF8D8166-BD2F-4705-9685-1DA07D89A577}TF2ec419c9-97c3-4958-b02a-0886397d33af51fa13e8-be82e899df39</Template>
  <TotalTime>71</TotalTime>
  <Words>387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Rockwell</vt:lpstr>
      <vt:lpstr>Rockwell Condensed</vt:lpstr>
      <vt:lpstr>Wingdings</vt:lpstr>
      <vt:lpstr>Wood Type</vt:lpstr>
      <vt:lpstr>Learning Problems and Perspectives , Concept Learning and Hypothesis</vt:lpstr>
      <vt:lpstr>TYPES OF LEARNING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shanuusree m</dc:creator>
  <cp:lastModifiedBy>shanuusree m</cp:lastModifiedBy>
  <cp:revision>1</cp:revision>
  <dcterms:created xsi:type="dcterms:W3CDTF">2026-07-23T13:53:51Z</dcterms:created>
  <dcterms:modified xsi:type="dcterms:W3CDTF">2026-07-23T15:05:50Z</dcterms:modified>
</cp:coreProperties>
</file>